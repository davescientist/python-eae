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25" roundtripDataSignature="AMtx7mgCT209/fQxE8YcZtGAUIChl3f+x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0C0E8FD-EF0F-4B82-BADC-6E3F37D2F1BA}">
  <a:tblStyle styleId="{D0C0E8FD-EF0F-4B82-BADC-6E3F37D2F1B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fill>
          <a:solidFill>
            <a:srgbClr val="CDD4EA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DD4EA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270524e87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9" name="Google Shape;89;g1270524e87a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1270524e87a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4" name="Google Shape;94;g1270524e87a_0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1270524e87a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9" name="Google Shape;99;g1270524e87a_0_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7" name="Google Shape;107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1270524e87a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5" name="Google Shape;115;g1270524e87a_0_1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1270524e87a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2" name="Google Shape;122;g1270524e87a_0_13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270524e87a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9" name="Google Shape;129;g1270524e87a_0_14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6" name="Google Shape;136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5" name="Google Shape;14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1270524e87a_0_3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7" name="Google Shape;157;g1270524e87a_0_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3" name="Google Shape;173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1" name="Google Shape;181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1" name="Google Shape;191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3" name="Google Shape;203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9" name="Google Shape;209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9" name="Google Shape;21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4" name="Google Shape;224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1270524e87a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4" name="Google Shape;234;g1270524e87a_0_1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" name="Google Shape;26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2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jpg"/><Relationship Id="rId4" Type="http://schemas.openxmlformats.org/officeDocument/2006/relationships/image" Target="../media/image6.jpg"/><Relationship Id="rId5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www.youtube.com/watch?v=R2mC-NUAmMk" TargetMode="External"/><Relationship Id="rId4" Type="http://schemas.openxmlformats.org/officeDocument/2006/relationships/image" Target="../media/image28.gif"/><Relationship Id="rId5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jpg"/><Relationship Id="rId4" Type="http://schemas.openxmlformats.org/officeDocument/2006/relationships/image" Target="../media/image4.jpg"/><Relationship Id="rId5" Type="http://schemas.openxmlformats.org/officeDocument/2006/relationships/hyperlink" Target="https://www.youtube.com/watch?v=Jky9I1ihAkg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jpg"/><Relationship Id="rId4" Type="http://schemas.openxmlformats.org/officeDocument/2006/relationships/hyperlink" Target="https://arstechnica.com/cars/2017/09/ntsb-teslas-autopilot-ux-a-major-role-in-fatal-model-s-crash/" TargetMode="External"/><Relationship Id="rId5" Type="http://schemas.openxmlformats.org/officeDocument/2006/relationships/image" Target="../media/image22.jpg"/><Relationship Id="rId6" Type="http://schemas.openxmlformats.org/officeDocument/2006/relationships/hyperlink" Target="https://www.theverge.com/2016/3/24/11297050/tay-microsoft-chatbot-racist" TargetMode="External"/><Relationship Id="rId7" Type="http://schemas.openxmlformats.org/officeDocument/2006/relationships/hyperlink" Target="https://www.youtube.com/watch?v=epyWW2e43UU" TargetMode="External"/><Relationship Id="rId8" Type="http://schemas.openxmlformats.org/officeDocument/2006/relationships/hyperlink" Target="https://www.youtube.com/watch?v=dj5M4s-cdAw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0.jpg"/><Relationship Id="rId4" Type="http://schemas.openxmlformats.org/officeDocument/2006/relationships/image" Target="../media/image21.jpg"/><Relationship Id="rId5" Type="http://schemas.openxmlformats.org/officeDocument/2006/relationships/image" Target="../media/image29.jpg"/><Relationship Id="rId6" Type="http://schemas.openxmlformats.org/officeDocument/2006/relationships/image" Target="../media/image24.jpg"/><Relationship Id="rId7" Type="http://schemas.openxmlformats.org/officeDocument/2006/relationships/image" Target="../media/image27.jpg"/><Relationship Id="rId8" Type="http://schemas.openxmlformats.org/officeDocument/2006/relationships/image" Target="../media/image25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b="1" lang="es-ES">
                <a:solidFill>
                  <a:srgbClr val="C00000"/>
                </a:solidFill>
              </a:rPr>
              <a:t>Machine Learning</a:t>
            </a:r>
            <a:endParaRPr b="1">
              <a:solidFill>
                <a:srgbClr val="C00000"/>
              </a:solidFill>
            </a:endParaRPr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s-ES"/>
              <a:t>Data Science Bootcamp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s-ES"/>
              <a:t>The Bridge</a:t>
            </a:r>
            <a:endParaRPr/>
          </a:p>
        </p:txBody>
      </p:sp>
      <p:pic>
        <p:nvPicPr>
          <p:cNvPr descr="Events organizados por The Bridge | Digital Talent Accelerator | Eventbrite" id="86" name="Google Shape;8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29901" y="5505450"/>
            <a:ext cx="823912" cy="8239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g1270524e87a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2500" y="214313"/>
            <a:ext cx="10287000" cy="6429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g1270524e87a_0_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80813" y="152400"/>
            <a:ext cx="7230363" cy="6553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g1270524e87a_0_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6971" y="1083650"/>
            <a:ext cx="8876414" cy="3672273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g1270524e87a_0_22"/>
          <p:cNvSpPr txBox="1"/>
          <p:nvPr/>
        </p:nvSpPr>
        <p:spPr>
          <a:xfrm>
            <a:off x="635925" y="5033297"/>
            <a:ext cx="36738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800">
                <a:solidFill>
                  <a:srgbClr val="F10909"/>
                </a:solidFill>
                <a:latin typeface="Calibri"/>
                <a:ea typeface="Calibri"/>
                <a:cs typeface="Calibri"/>
                <a:sym typeface="Calibri"/>
              </a:rPr>
              <a:t>IA</a:t>
            </a:r>
            <a:r>
              <a:rPr lang="es-ES" sz="1800">
                <a:solidFill>
                  <a:srgbClr val="F7F9F8"/>
                </a:solidFill>
                <a:latin typeface="Calibri"/>
                <a:ea typeface="Calibri"/>
                <a:cs typeface="Calibri"/>
                <a:sym typeface="Calibri"/>
              </a:rPr>
              <a:t> - Técnicas que posibilitan a máquinas </a:t>
            </a:r>
            <a:r>
              <a:rPr b="1" lang="es-E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imitar la inteligencia humana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g1270524e87a_0_22"/>
          <p:cNvSpPr txBox="1"/>
          <p:nvPr/>
        </p:nvSpPr>
        <p:spPr>
          <a:xfrm>
            <a:off x="4310036" y="4964981"/>
            <a:ext cx="36738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ML</a:t>
            </a:r>
            <a:r>
              <a:rPr lang="es-ES" sz="1800">
                <a:solidFill>
                  <a:srgbClr val="F7F9F8"/>
                </a:solidFill>
                <a:latin typeface="Calibri"/>
                <a:ea typeface="Calibri"/>
                <a:cs typeface="Calibri"/>
                <a:sym typeface="Calibri"/>
              </a:rPr>
              <a:t> - Algoritmos que dan a una máquina la </a:t>
            </a:r>
            <a:r>
              <a:rPr b="1" lang="es-E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capacidad de aprender</a:t>
            </a:r>
            <a:r>
              <a:rPr lang="es-ES" sz="1800">
                <a:solidFill>
                  <a:srgbClr val="F7F9F8"/>
                </a:solidFill>
                <a:latin typeface="Calibri"/>
                <a:ea typeface="Calibri"/>
                <a:cs typeface="Calibri"/>
                <a:sym typeface="Calibri"/>
              </a:rPr>
              <a:t> a partir de datos.</a:t>
            </a:r>
            <a:endParaRPr b="1"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g1270524e87a_0_22"/>
          <p:cNvSpPr txBox="1"/>
          <p:nvPr/>
        </p:nvSpPr>
        <p:spPr>
          <a:xfrm>
            <a:off x="7882270" y="4964981"/>
            <a:ext cx="3673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DL</a:t>
            </a:r>
            <a:r>
              <a:rPr lang="es-ES" sz="1800">
                <a:solidFill>
                  <a:srgbClr val="F7F9F8"/>
                </a:solidFill>
                <a:latin typeface="Calibri"/>
                <a:ea typeface="Calibri"/>
                <a:cs typeface="Calibri"/>
                <a:sym typeface="Calibri"/>
              </a:rPr>
              <a:t> - Rama de ML que utiliza </a:t>
            </a:r>
            <a:r>
              <a:rPr b="1" lang="es-ES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redes neuronales </a:t>
            </a:r>
            <a:r>
              <a:rPr lang="es-E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 varias capas.</a:t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 txBox="1"/>
          <p:nvPr>
            <p:ph type="title"/>
          </p:nvPr>
        </p:nvSpPr>
        <p:spPr>
          <a:xfrm>
            <a:off x="716902" y="30914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s-ES"/>
              <a:t>Machine Learning</a:t>
            </a:r>
            <a:endParaRPr/>
          </a:p>
        </p:txBody>
      </p:sp>
      <p:sp>
        <p:nvSpPr>
          <p:cNvPr id="110" name="Google Shape;110;p2"/>
          <p:cNvSpPr txBox="1"/>
          <p:nvPr>
            <p:ph idx="1" type="body"/>
          </p:nvPr>
        </p:nvSpPr>
        <p:spPr>
          <a:xfrm>
            <a:off x="716902" y="1283082"/>
            <a:ext cx="5487955" cy="4790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</a:pPr>
            <a:r>
              <a:rPr i="1" lang="es-ES" sz="1800">
                <a:solidFill>
                  <a:srgbClr val="D8D8D8"/>
                </a:solidFill>
              </a:rPr>
              <a:t>Definición</a:t>
            </a:r>
            <a:endParaRPr/>
          </a:p>
        </p:txBody>
      </p:sp>
      <p:sp>
        <p:nvSpPr>
          <p:cNvPr id="111" name="Google Shape;111;p2"/>
          <p:cNvSpPr/>
          <p:nvPr/>
        </p:nvSpPr>
        <p:spPr>
          <a:xfrm>
            <a:off x="497691" y="763312"/>
            <a:ext cx="90138" cy="65434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2"/>
          <p:cNvSpPr/>
          <p:nvPr/>
        </p:nvSpPr>
        <p:spPr>
          <a:xfrm>
            <a:off x="2004332" y="2875345"/>
            <a:ext cx="8401049" cy="21236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1" lang="es-E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“Machine Learning es el subcampo de las ciencias de la computación y una rama de la Inteligencia Artificial, cuyo objetivo es simular el </a:t>
            </a:r>
            <a:r>
              <a:rPr b="1" i="1" lang="es-E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aprendizaje automático</a:t>
            </a:r>
            <a:r>
              <a:rPr b="0" i="1" lang="es-E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, gracias a modelos matemáticos, que nos sirven para </a:t>
            </a:r>
            <a:r>
              <a:rPr b="1" i="1" lang="es-E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detectar patrones en los datos y realizar predicciones</a:t>
            </a:r>
            <a:r>
              <a:rPr b="0" i="1" lang="es-E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1270524e87a_0_128"/>
          <p:cNvSpPr txBox="1"/>
          <p:nvPr>
            <p:ph type="title"/>
          </p:nvPr>
        </p:nvSpPr>
        <p:spPr>
          <a:xfrm>
            <a:off x="716902" y="309142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s-ES"/>
              <a:t>Machine Learning</a:t>
            </a:r>
            <a:endParaRPr/>
          </a:p>
        </p:txBody>
      </p:sp>
      <p:sp>
        <p:nvSpPr>
          <p:cNvPr id="118" name="Google Shape;118;g1270524e87a_0_128"/>
          <p:cNvSpPr/>
          <p:nvPr/>
        </p:nvSpPr>
        <p:spPr>
          <a:xfrm>
            <a:off x="497691" y="763312"/>
            <a:ext cx="90000" cy="6543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9" name="Google Shape;119;g1270524e87a_0_1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3038" y="1634842"/>
            <a:ext cx="3723319" cy="49183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1270524e87a_0_136"/>
          <p:cNvSpPr txBox="1"/>
          <p:nvPr>
            <p:ph type="title"/>
          </p:nvPr>
        </p:nvSpPr>
        <p:spPr>
          <a:xfrm>
            <a:off x="716902" y="309142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s-ES"/>
              <a:t>Machine Learning</a:t>
            </a:r>
            <a:endParaRPr/>
          </a:p>
        </p:txBody>
      </p:sp>
      <p:sp>
        <p:nvSpPr>
          <p:cNvPr id="125" name="Google Shape;125;g1270524e87a_0_136"/>
          <p:cNvSpPr/>
          <p:nvPr/>
        </p:nvSpPr>
        <p:spPr>
          <a:xfrm>
            <a:off x="497691" y="763312"/>
            <a:ext cx="90000" cy="6543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6" name="Google Shape;126;g1270524e87a_0_1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77337" y="1299899"/>
            <a:ext cx="4437324" cy="5401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1270524e87a_0_144"/>
          <p:cNvSpPr txBox="1"/>
          <p:nvPr>
            <p:ph type="title"/>
          </p:nvPr>
        </p:nvSpPr>
        <p:spPr>
          <a:xfrm>
            <a:off x="716902" y="309142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s-ES"/>
              <a:t>Machine Learning</a:t>
            </a:r>
            <a:endParaRPr/>
          </a:p>
        </p:txBody>
      </p:sp>
      <p:sp>
        <p:nvSpPr>
          <p:cNvPr id="132" name="Google Shape;132;g1270524e87a_0_144"/>
          <p:cNvSpPr/>
          <p:nvPr/>
        </p:nvSpPr>
        <p:spPr>
          <a:xfrm>
            <a:off x="497691" y="763312"/>
            <a:ext cx="90000" cy="6543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upervised Learning. In machine learning, Supervised… | by Jorge Leonel |  Medium" id="133" name="Google Shape;133;g1270524e87a_0_1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08014" y="1489176"/>
            <a:ext cx="6933375" cy="5122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"/>
          <p:cNvSpPr txBox="1"/>
          <p:nvPr>
            <p:ph type="title"/>
          </p:nvPr>
        </p:nvSpPr>
        <p:spPr>
          <a:xfrm>
            <a:off x="716902" y="309142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s-ES"/>
              <a:t>Machine Learning</a:t>
            </a:r>
            <a:endParaRPr/>
          </a:p>
        </p:txBody>
      </p:sp>
      <p:sp>
        <p:nvSpPr>
          <p:cNvPr id="139" name="Google Shape;139;p3"/>
          <p:cNvSpPr txBox="1"/>
          <p:nvPr>
            <p:ph idx="1" type="body"/>
          </p:nvPr>
        </p:nvSpPr>
        <p:spPr>
          <a:xfrm>
            <a:off x="716902" y="1283082"/>
            <a:ext cx="5487955" cy="4790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</a:pPr>
            <a:r>
              <a:rPr i="1" lang="es-ES" sz="1800">
                <a:solidFill>
                  <a:srgbClr val="D8D8D8"/>
                </a:solidFill>
              </a:rPr>
              <a:t>Ejemplo</a:t>
            </a:r>
            <a:endParaRPr/>
          </a:p>
        </p:txBody>
      </p:sp>
      <p:sp>
        <p:nvSpPr>
          <p:cNvPr id="140" name="Google Shape;140;p3"/>
          <p:cNvSpPr/>
          <p:nvPr/>
        </p:nvSpPr>
        <p:spPr>
          <a:xfrm>
            <a:off x="497691" y="763312"/>
            <a:ext cx="90138" cy="65434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1" name="Google Shape;141;p3"/>
          <p:cNvGraphicFramePr/>
          <p:nvPr/>
        </p:nvGraphicFramePr>
        <p:xfrm>
          <a:off x="3868354" y="296167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{D0C0E8FD-EF0F-4B82-BADC-6E3F37D2F1BA}</a:tableStyleId>
              </a:tblPr>
              <a:tblGrid>
                <a:gridCol w="1113825"/>
                <a:gridCol w="1113825"/>
                <a:gridCol w="1113825"/>
                <a:gridCol w="1113825"/>
              </a:tblGrid>
              <a:tr h="288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u="none" cap="none" strike="noStrike"/>
                        <a:t>Cliente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u="none" cap="none" strike="noStrike"/>
                        <a:t>Dinero en cuenta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u="none" cap="none" strike="noStrike"/>
                        <a:t>Ha tenido impagos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u="none" cap="none" strike="noStrike"/>
                        <a:t>Buen pagador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288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u="none" cap="none" strike="noStrike"/>
                        <a:t>A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u="none" cap="none" strike="noStrike"/>
                        <a:t>50.000 €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u="none" cap="none" strike="noStrike"/>
                        <a:t>No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u="none" cap="none" strike="noStrike"/>
                        <a:t>SI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288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u="none" cap="none" strike="noStrike"/>
                        <a:t>B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u="none" cap="none" strike="noStrike"/>
                        <a:t>150.000 €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u="none" cap="none" strike="noStrike"/>
                        <a:t>No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u="none" cap="none" strike="noStrike"/>
                        <a:t>SI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288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u="none" cap="none" strike="noStrike"/>
                        <a:t>C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u="none" cap="none" strike="noStrike"/>
                        <a:t>1.000 €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u="none" cap="none" strike="noStrike"/>
                        <a:t>Si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u="none" cap="none" strike="noStrike"/>
                        <a:t>NO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  <a:tr h="2889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u="none" cap="none" strike="noStrike"/>
                        <a:t>D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u="none" cap="none" strike="noStrike"/>
                        <a:t>500 €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u="none" cap="none" strike="noStrike"/>
                        <a:t>Si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ES" sz="1200" u="none" cap="none" strike="noStrike"/>
                        <a:t>NO</a:t>
                      </a:r>
                      <a:endParaRPr sz="1400" u="none" cap="none" strike="noStrike"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graphicFrame>
        <p:nvGraphicFramePr>
          <p:cNvPr id="142" name="Google Shape;142;p3"/>
          <p:cNvGraphicFramePr/>
          <p:nvPr/>
        </p:nvGraphicFramePr>
        <p:xfrm>
          <a:off x="1663650" y="200023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{D0C0E8FD-EF0F-4B82-BADC-6E3F37D2F1BA}</a:tableStyleId>
              </a:tblPr>
              <a:tblGrid>
                <a:gridCol w="1231725"/>
                <a:gridCol w="1231725"/>
                <a:gridCol w="1231725"/>
                <a:gridCol w="1231725"/>
                <a:gridCol w="1231725"/>
                <a:gridCol w="1231725"/>
                <a:gridCol w="1231725"/>
              </a:tblGrid>
              <a:tr h="589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u="none" cap="none" strike="noStrike"/>
                        <a:t>Cliente</a:t>
                      </a:r>
                      <a:endParaRPr sz="19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u="none" cap="none" strike="noStrike"/>
                        <a:t>Dinero en cuenta</a:t>
                      </a:r>
                      <a:endParaRPr sz="19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u="none" cap="none" strike="noStrike"/>
                        <a:t>Ha tenido impagos</a:t>
                      </a:r>
                      <a:endParaRPr sz="19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u="none" cap="none" strike="noStrike"/>
                        <a:t>Trabajo</a:t>
                      </a:r>
                      <a:endParaRPr sz="19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u="none" cap="none" strike="noStrike"/>
                        <a:t>Estado civil</a:t>
                      </a:r>
                      <a:endParaRPr sz="19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u="none" cap="none" strike="noStrike"/>
                        <a:t>Deudas</a:t>
                      </a:r>
                      <a:endParaRPr sz="19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u="none" cap="none" strike="noStrike"/>
                        <a:t>Buen pagador</a:t>
                      </a:r>
                      <a:endParaRPr sz="1900" u="none" cap="none" strike="noStrike"/>
                    </a:p>
                  </a:txBody>
                  <a:tcPr marT="45725" marB="45725" marR="91450" marL="91450" anchor="ctr"/>
                </a:tc>
              </a:tr>
              <a:tr h="36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u="none" cap="none" strike="noStrike"/>
                        <a:t>A</a:t>
                      </a:r>
                      <a:endParaRPr sz="19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u="none" cap="none" strike="noStrike"/>
                        <a:t>50.000 €</a:t>
                      </a:r>
                      <a:endParaRPr sz="19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u="none" cap="none" strike="noStrike"/>
                        <a:t>NO</a:t>
                      </a:r>
                      <a:endParaRPr sz="19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u="none" cap="none" strike="noStrike"/>
                        <a:t>Si</a:t>
                      </a:r>
                      <a:endParaRPr sz="19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u="none" cap="none" strike="noStrike"/>
                        <a:t>Soltero/a</a:t>
                      </a:r>
                      <a:endParaRPr sz="19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u="none" cap="none" strike="noStrike"/>
                        <a:t>No</a:t>
                      </a:r>
                      <a:endParaRPr sz="19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u="none" cap="none" strike="noStrike"/>
                        <a:t>SI</a:t>
                      </a:r>
                      <a:endParaRPr sz="1900" u="none" cap="none" strike="noStrike"/>
                    </a:p>
                  </a:txBody>
                  <a:tcPr marT="45725" marB="45725" marR="91450" marL="91450" anchor="ctr"/>
                </a:tc>
              </a:tr>
              <a:tr h="36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u="none" cap="none" strike="noStrike"/>
                        <a:t>B</a:t>
                      </a:r>
                      <a:endParaRPr sz="19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u="none" cap="none" strike="noStrike"/>
                        <a:t>11.000 €</a:t>
                      </a:r>
                      <a:endParaRPr sz="19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u="none" cap="none" strike="noStrike"/>
                        <a:t>NO</a:t>
                      </a:r>
                      <a:endParaRPr sz="19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u="none" cap="none" strike="noStrike"/>
                        <a:t>Si</a:t>
                      </a:r>
                      <a:endParaRPr sz="19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u="none" cap="none" strike="noStrike"/>
                        <a:t>Casado/a</a:t>
                      </a:r>
                      <a:endParaRPr sz="19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u="none" cap="none" strike="noStrike"/>
                        <a:t>Hipoteca</a:t>
                      </a:r>
                      <a:endParaRPr sz="19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u="none" cap="none" strike="noStrike"/>
                        <a:t>NO</a:t>
                      </a:r>
                      <a:endParaRPr sz="1900" u="none" cap="none" strike="noStrike"/>
                    </a:p>
                  </a:txBody>
                  <a:tcPr marT="45725" marB="45725" marR="91450" marL="91450" anchor="ctr"/>
                </a:tc>
              </a:tr>
              <a:tr h="36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u="none" cap="none" strike="noStrike"/>
                        <a:t>C</a:t>
                      </a:r>
                      <a:endParaRPr sz="19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u="none" cap="none" strike="noStrike"/>
                        <a:t>24.000 €</a:t>
                      </a:r>
                      <a:endParaRPr sz="19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u="none" cap="none" strike="noStrike"/>
                        <a:t>NO</a:t>
                      </a:r>
                      <a:endParaRPr sz="19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u="none" cap="none" strike="noStrike"/>
                        <a:t>Paro</a:t>
                      </a:r>
                      <a:endParaRPr sz="19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u="none" cap="none" strike="noStrike"/>
                        <a:t>Soltero/a</a:t>
                      </a:r>
                      <a:endParaRPr sz="19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u="none" cap="none" strike="noStrike"/>
                        <a:t>No</a:t>
                      </a:r>
                      <a:endParaRPr sz="19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u="none" cap="none" strike="noStrike"/>
                        <a:t>NO</a:t>
                      </a:r>
                      <a:endParaRPr sz="1900" u="none" cap="none" strike="noStrike"/>
                    </a:p>
                  </a:txBody>
                  <a:tcPr marT="45725" marB="45725" marR="91450" marL="91450" anchor="ctr"/>
                </a:tc>
              </a:tr>
              <a:tr h="36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u="none" cap="none" strike="noStrike"/>
                        <a:t>D</a:t>
                      </a:r>
                      <a:endParaRPr sz="19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u="none" cap="none" strike="noStrike"/>
                        <a:t>150.000 €</a:t>
                      </a:r>
                      <a:endParaRPr sz="19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u="none" cap="none" strike="noStrike"/>
                        <a:t>NO</a:t>
                      </a:r>
                      <a:endParaRPr sz="19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u="none" cap="none" strike="noStrike"/>
                        <a:t>Si</a:t>
                      </a:r>
                      <a:endParaRPr sz="19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u="none" cap="none" strike="noStrike"/>
                        <a:t>Pareja</a:t>
                      </a:r>
                      <a:endParaRPr sz="19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u="none" cap="none" strike="noStrike"/>
                        <a:t>Hipoteca</a:t>
                      </a:r>
                      <a:endParaRPr sz="19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u="none" cap="none" strike="noStrike"/>
                        <a:t>SI</a:t>
                      </a:r>
                      <a:endParaRPr sz="1900" u="none" cap="none" strike="noStrike"/>
                    </a:p>
                  </a:txBody>
                  <a:tcPr marT="45725" marB="45725" marR="91450" marL="91450" anchor="ctr"/>
                </a:tc>
              </a:tr>
              <a:tr h="36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u="none" cap="none" strike="noStrike"/>
                        <a:t>E</a:t>
                      </a:r>
                      <a:endParaRPr sz="19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u="none" cap="none" strike="noStrike"/>
                        <a:t>1.000 €</a:t>
                      </a:r>
                      <a:endParaRPr sz="19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u="none" cap="none" strike="noStrike"/>
                        <a:t>SI</a:t>
                      </a:r>
                      <a:endParaRPr sz="19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u="none" cap="none" strike="noStrike"/>
                        <a:t>Pensionista</a:t>
                      </a:r>
                      <a:endParaRPr sz="19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u="none" cap="none" strike="noStrike"/>
                        <a:t>Pareja</a:t>
                      </a:r>
                      <a:endParaRPr sz="19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u="none" cap="none" strike="noStrike"/>
                        <a:t>Préstamo</a:t>
                      </a:r>
                      <a:endParaRPr sz="19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u="none" cap="none" strike="noStrike"/>
                        <a:t>SI</a:t>
                      </a:r>
                      <a:endParaRPr sz="1900" u="none" cap="none" strike="noStrike"/>
                    </a:p>
                  </a:txBody>
                  <a:tcPr marT="45725" marB="45725" marR="91450" marL="91450" anchor="ctr"/>
                </a:tc>
              </a:tr>
              <a:tr h="36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u="none" cap="none" strike="noStrike"/>
                        <a:t>F</a:t>
                      </a:r>
                      <a:endParaRPr sz="19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u="none" cap="none" strike="noStrike"/>
                        <a:t>33.000 €</a:t>
                      </a:r>
                      <a:endParaRPr sz="19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u="none" cap="none" strike="noStrike"/>
                        <a:t>NO</a:t>
                      </a:r>
                      <a:endParaRPr sz="19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u="none" cap="none" strike="noStrike"/>
                        <a:t>Pensionista</a:t>
                      </a:r>
                      <a:endParaRPr sz="19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900"/>
                        <a:buFont typeface="Calibri"/>
                        <a:buNone/>
                      </a:pPr>
                      <a:r>
                        <a:rPr lang="es-ES" u="none" cap="none" strike="noStrike"/>
                        <a:t>Casado/a</a:t>
                      </a:r>
                      <a:endParaRPr sz="19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u="none" cap="none" strike="noStrike"/>
                        <a:t>Hipoteca</a:t>
                      </a:r>
                      <a:endParaRPr sz="19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u="none" cap="none" strike="noStrike"/>
                        <a:t>SI</a:t>
                      </a:r>
                      <a:endParaRPr sz="1900" u="none" cap="none" strike="noStrike"/>
                    </a:p>
                  </a:txBody>
                  <a:tcPr marT="45725" marB="45725" marR="91450" marL="91450" anchor="ctr"/>
                </a:tc>
              </a:tr>
              <a:tr h="36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u="none" cap="none" strike="noStrike"/>
                        <a:t>G</a:t>
                      </a:r>
                      <a:endParaRPr sz="19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u="none" cap="none" strike="noStrike"/>
                        <a:t>725 €</a:t>
                      </a:r>
                      <a:endParaRPr sz="19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u="none" cap="none" strike="noStrike"/>
                        <a:t>SI</a:t>
                      </a:r>
                      <a:endParaRPr sz="19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u="none" cap="none" strike="noStrike"/>
                        <a:t>Si</a:t>
                      </a:r>
                      <a:endParaRPr sz="19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u="none" cap="none" strike="noStrike"/>
                        <a:t>Pareja</a:t>
                      </a:r>
                      <a:endParaRPr sz="19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u="none" cap="none" strike="noStrike"/>
                        <a:t>No</a:t>
                      </a:r>
                      <a:endParaRPr sz="19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u="none" cap="none" strike="noStrike"/>
                        <a:t>SI</a:t>
                      </a:r>
                      <a:endParaRPr sz="1900" u="none" cap="none" strike="noStrike"/>
                    </a:p>
                  </a:txBody>
                  <a:tcPr marT="45725" marB="45725" marR="91450" marL="91450" anchor="ctr"/>
                </a:tc>
              </a:tr>
              <a:tr h="36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u="none" cap="none" strike="noStrike"/>
                        <a:t>H</a:t>
                      </a:r>
                      <a:endParaRPr sz="19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u="none" cap="none" strike="noStrike"/>
                        <a:t>500 €</a:t>
                      </a:r>
                      <a:endParaRPr sz="19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u="none" cap="none" strike="noStrike"/>
                        <a:t>SI</a:t>
                      </a:r>
                      <a:endParaRPr sz="19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u="none" cap="none" strike="noStrike"/>
                        <a:t>Estudiante</a:t>
                      </a:r>
                      <a:endParaRPr sz="19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u="none" cap="none" strike="noStrike"/>
                        <a:t>Soltero/a</a:t>
                      </a:r>
                      <a:endParaRPr sz="19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u="none" cap="none" strike="noStrike"/>
                        <a:t>No</a:t>
                      </a:r>
                      <a:endParaRPr sz="19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u="none" cap="none" strike="noStrike"/>
                        <a:t>NO</a:t>
                      </a:r>
                      <a:endParaRPr sz="1900" u="none" cap="none" strike="noStrike"/>
                    </a:p>
                  </a:txBody>
                  <a:tcPr marT="45725" marB="45725" marR="91450" marL="91450" anchor="ctr"/>
                </a:tc>
              </a:tr>
              <a:tr h="36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u="none" cap="none" strike="noStrike"/>
                        <a:t>I</a:t>
                      </a:r>
                      <a:endParaRPr sz="19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u="none" cap="none" strike="noStrike"/>
                        <a:t>6.000 €</a:t>
                      </a:r>
                      <a:endParaRPr sz="19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u="none" cap="none" strike="noStrike"/>
                        <a:t>NO</a:t>
                      </a:r>
                      <a:endParaRPr sz="19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u="none" cap="none" strike="noStrike"/>
                        <a:t>Si</a:t>
                      </a:r>
                      <a:endParaRPr sz="19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900"/>
                        <a:buFont typeface="Calibri"/>
                        <a:buNone/>
                      </a:pPr>
                      <a:r>
                        <a:rPr lang="es-ES" u="none" cap="none" strike="noStrike"/>
                        <a:t>Casado/a</a:t>
                      </a:r>
                      <a:endParaRPr sz="19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u="none" cap="none" strike="noStrike"/>
                        <a:t>Préstamo</a:t>
                      </a:r>
                      <a:endParaRPr sz="19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u="none" cap="none" strike="noStrike"/>
                        <a:t>SI</a:t>
                      </a:r>
                      <a:endParaRPr sz="1900" u="none" cap="none" strike="noStrike"/>
                    </a:p>
                  </a:txBody>
                  <a:tcPr marT="45725" marB="45725" marR="91450" marL="91450" anchor="ctr"/>
                </a:tc>
              </a:tr>
              <a:tr h="36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u="none" cap="none" strike="noStrike"/>
                        <a:t>J</a:t>
                      </a:r>
                      <a:endParaRPr sz="19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u="none" cap="none" strike="noStrike"/>
                        <a:t>300.000 €</a:t>
                      </a:r>
                      <a:endParaRPr sz="19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u="none" cap="none" strike="noStrike"/>
                        <a:t>NO</a:t>
                      </a:r>
                      <a:endParaRPr sz="19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u="none" cap="none" strike="noStrike"/>
                        <a:t>Si</a:t>
                      </a:r>
                      <a:endParaRPr sz="19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u="none" cap="none" strike="noStrike"/>
                        <a:t>Soltero/a</a:t>
                      </a:r>
                      <a:endParaRPr sz="19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u="none" cap="none" strike="noStrike"/>
                        <a:t>No</a:t>
                      </a:r>
                      <a:endParaRPr sz="1900" u="none" cap="none" strike="noStrike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lang="es-ES" u="none" cap="none" strike="noStrike"/>
                        <a:t>SI</a:t>
                      </a:r>
                      <a:endParaRPr sz="1900" u="none" cap="none" strike="noStrike"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"/>
          <p:cNvSpPr txBox="1"/>
          <p:nvPr>
            <p:ph type="title"/>
          </p:nvPr>
        </p:nvSpPr>
        <p:spPr>
          <a:xfrm>
            <a:off x="716902" y="30914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s-ES"/>
              <a:t>Machine Learning</a:t>
            </a:r>
            <a:endParaRPr/>
          </a:p>
        </p:txBody>
      </p:sp>
      <p:sp>
        <p:nvSpPr>
          <p:cNvPr id="148" name="Google Shape;148;p4"/>
          <p:cNvSpPr txBox="1"/>
          <p:nvPr>
            <p:ph idx="1" type="body"/>
          </p:nvPr>
        </p:nvSpPr>
        <p:spPr>
          <a:xfrm>
            <a:off x="716902" y="1283082"/>
            <a:ext cx="5487955" cy="4790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</a:pPr>
            <a:r>
              <a:rPr i="1" lang="es-ES" sz="1800">
                <a:solidFill>
                  <a:srgbClr val="D8D8D8"/>
                </a:solidFill>
              </a:rPr>
              <a:t>Mi primer modelo de ML</a:t>
            </a:r>
            <a:endParaRPr/>
          </a:p>
        </p:txBody>
      </p:sp>
      <p:sp>
        <p:nvSpPr>
          <p:cNvPr id="149" name="Google Shape;149;p4"/>
          <p:cNvSpPr/>
          <p:nvPr/>
        </p:nvSpPr>
        <p:spPr>
          <a:xfrm>
            <a:off x="497691" y="763312"/>
            <a:ext cx="90138" cy="65434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0" name="Google Shape;15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3450" y="1768987"/>
            <a:ext cx="6482500" cy="37857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1" name="Google Shape;151;p4"/>
          <p:cNvCxnSpPr/>
          <p:nvPr/>
        </p:nvCxnSpPr>
        <p:spPr>
          <a:xfrm flipH="1" rot="10800000">
            <a:off x="4046648" y="2303498"/>
            <a:ext cx="4470300" cy="2427000"/>
          </a:xfrm>
          <a:prstGeom prst="straightConnector1">
            <a:avLst/>
          </a:prstGeom>
          <a:noFill/>
          <a:ln cap="flat" cmpd="sng" w="2222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2" name="Google Shape;152;p4"/>
          <p:cNvSpPr txBox="1"/>
          <p:nvPr/>
        </p:nvSpPr>
        <p:spPr>
          <a:xfrm>
            <a:off x="1866204" y="5689047"/>
            <a:ext cx="1570173" cy="27699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23909" l="-1546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4"/>
          <p:cNvSpPr txBox="1"/>
          <p:nvPr/>
        </p:nvSpPr>
        <p:spPr>
          <a:xfrm>
            <a:off x="963695" y="6058061"/>
            <a:ext cx="3607591" cy="276999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35549" l="-1178" r="-334" t="-221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4"/>
          <p:cNvSpPr txBox="1"/>
          <p:nvPr/>
        </p:nvSpPr>
        <p:spPr>
          <a:xfrm>
            <a:off x="6569914" y="5941503"/>
            <a:ext cx="4658391" cy="276999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26662" l="-259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1270524e87a_0_30"/>
          <p:cNvSpPr txBox="1"/>
          <p:nvPr>
            <p:ph type="title"/>
          </p:nvPr>
        </p:nvSpPr>
        <p:spPr>
          <a:xfrm>
            <a:off x="716902" y="309142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s-ES"/>
              <a:t>Modelo</a:t>
            </a:r>
            <a:endParaRPr/>
          </a:p>
        </p:txBody>
      </p:sp>
      <p:sp>
        <p:nvSpPr>
          <p:cNvPr id="160" name="Google Shape;160;g1270524e87a_0_30"/>
          <p:cNvSpPr txBox="1"/>
          <p:nvPr>
            <p:ph idx="1" type="body"/>
          </p:nvPr>
        </p:nvSpPr>
        <p:spPr>
          <a:xfrm>
            <a:off x="716902" y="1283082"/>
            <a:ext cx="5487900" cy="4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</a:pPr>
            <a:r>
              <a:rPr i="1" lang="es-ES" sz="1800">
                <a:solidFill>
                  <a:srgbClr val="D8D8D8"/>
                </a:solidFill>
              </a:rPr>
              <a:t>¿Es bueno el modelo elegido?</a:t>
            </a:r>
            <a:endParaRPr/>
          </a:p>
        </p:txBody>
      </p:sp>
      <p:sp>
        <p:nvSpPr>
          <p:cNvPr id="161" name="Google Shape;161;g1270524e87a_0_30"/>
          <p:cNvSpPr/>
          <p:nvPr/>
        </p:nvSpPr>
        <p:spPr>
          <a:xfrm>
            <a:off x="497691" y="763312"/>
            <a:ext cx="90000" cy="6543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FOTOS] Así era la vida de Bailey, la perrita que se hizo viral por meme &quot;no  tengo idea qué estoy haciendo&quot; - Meganoticias" id="162" name="Google Shape;162;g1270524e87a_0_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4162" y="3247434"/>
            <a:ext cx="3233408" cy="2253271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g1270524e87a_0_30"/>
          <p:cNvSpPr txBox="1"/>
          <p:nvPr/>
        </p:nvSpPr>
        <p:spPr>
          <a:xfrm>
            <a:off x="-50604" y="2322864"/>
            <a:ext cx="3862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E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¿Cuál es el mejor modelo para nuestros datos?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g1270524e87a_0_30"/>
          <p:cNvSpPr txBox="1"/>
          <p:nvPr/>
        </p:nvSpPr>
        <p:spPr>
          <a:xfrm>
            <a:off x="4903288" y="2589989"/>
            <a:ext cx="2001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Método científico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he scientific method is a process for experimentation" id="165" name="Google Shape;165;g1270524e87a_0_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66967" y="2998457"/>
            <a:ext cx="2577108" cy="2829317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g1270524e87a_0_30"/>
          <p:cNvSpPr txBox="1"/>
          <p:nvPr/>
        </p:nvSpPr>
        <p:spPr>
          <a:xfrm>
            <a:off x="8108525" y="2589049"/>
            <a:ext cx="36912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 momento…Minimizar errores.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Encontrar un modelo que prediga con la menor cantidad de errores posible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radient Descent — ML Glossary documentation" id="167" name="Google Shape;167;g1270524e87a_0_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98571" y="3535788"/>
            <a:ext cx="2799383" cy="2291987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g1270524e87a_0_30"/>
          <p:cNvSpPr txBox="1"/>
          <p:nvPr/>
        </p:nvSpPr>
        <p:spPr>
          <a:xfrm>
            <a:off x="-65300" y="2643844"/>
            <a:ext cx="3862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 priori no lo sabemos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g1270524e87a_0_30"/>
          <p:cNvSpPr txBox="1"/>
          <p:nvPr/>
        </p:nvSpPr>
        <p:spPr>
          <a:xfrm>
            <a:off x="4592074" y="2286725"/>
            <a:ext cx="2682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E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¿Cómo solucionamos esto?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g1270524e87a_0_30"/>
          <p:cNvSpPr txBox="1"/>
          <p:nvPr/>
        </p:nvSpPr>
        <p:spPr>
          <a:xfrm>
            <a:off x="8264253" y="2288514"/>
            <a:ext cx="3267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-E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¿Qué objetivo perseguimos?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kyscanner Chatbot — ChatbotGuide.org" id="175" name="Google Shape;17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54816" y="1923989"/>
            <a:ext cx="6427694" cy="3650929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5"/>
          <p:cNvSpPr txBox="1"/>
          <p:nvPr/>
        </p:nvSpPr>
        <p:spPr>
          <a:xfrm>
            <a:off x="716902" y="30914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0" i="0" lang="es-ES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Ejemplos de 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5"/>
          <p:cNvSpPr txBox="1"/>
          <p:nvPr>
            <p:ph idx="1" type="body"/>
          </p:nvPr>
        </p:nvSpPr>
        <p:spPr>
          <a:xfrm>
            <a:off x="716902" y="1283082"/>
            <a:ext cx="5487955" cy="4790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</a:pPr>
            <a:r>
              <a:rPr i="1" lang="es-ES" sz="1800">
                <a:solidFill>
                  <a:srgbClr val="D8D8D8"/>
                </a:solidFill>
              </a:rPr>
              <a:t>Chatbots y asistentes virtuales</a:t>
            </a:r>
            <a:endParaRPr/>
          </a:p>
        </p:txBody>
      </p:sp>
      <p:sp>
        <p:nvSpPr>
          <p:cNvPr id="178" name="Google Shape;178;p15"/>
          <p:cNvSpPr/>
          <p:nvPr/>
        </p:nvSpPr>
        <p:spPr>
          <a:xfrm>
            <a:off x="497691" y="763312"/>
            <a:ext cx="90138" cy="65434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6"/>
          <p:cNvSpPr txBox="1"/>
          <p:nvPr/>
        </p:nvSpPr>
        <p:spPr>
          <a:xfrm>
            <a:off x="523782" y="6123543"/>
            <a:ext cx="332912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sng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Microsoft disabled people video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6"/>
          <p:cNvSpPr txBox="1"/>
          <p:nvPr/>
        </p:nvSpPr>
        <p:spPr>
          <a:xfrm>
            <a:off x="716902" y="30914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0" i="0" lang="es-ES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Ejemplos de 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6"/>
          <p:cNvSpPr txBox="1"/>
          <p:nvPr>
            <p:ph idx="1" type="body"/>
          </p:nvPr>
        </p:nvSpPr>
        <p:spPr>
          <a:xfrm>
            <a:off x="716902" y="1283082"/>
            <a:ext cx="5487955" cy="4790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</a:pPr>
            <a:r>
              <a:rPr i="1" lang="es-ES" sz="1800">
                <a:solidFill>
                  <a:srgbClr val="D8D8D8"/>
                </a:solidFill>
              </a:rPr>
              <a:t>Computer Vision</a:t>
            </a:r>
            <a:endParaRPr i="1" sz="1800">
              <a:solidFill>
                <a:srgbClr val="D8D8D8"/>
              </a:solidFill>
            </a:endParaRPr>
          </a:p>
        </p:txBody>
      </p:sp>
      <p:sp>
        <p:nvSpPr>
          <p:cNvPr id="186" name="Google Shape;186;p16"/>
          <p:cNvSpPr/>
          <p:nvPr/>
        </p:nvSpPr>
        <p:spPr>
          <a:xfrm>
            <a:off x="497691" y="763312"/>
            <a:ext cx="90138" cy="65434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itHub - StevieG47/Matlab-ComputerVision: Car Tracking, Lane Detection,  Traffic Sign Recognition, Homography, Color Segmentation, Visual Odometry" id="187" name="Google Shape;18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2003377"/>
            <a:ext cx="5074772" cy="34600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how Facebook Computer Vision Tags Chrome Extension – Bram.us" id="188" name="Google Shape;18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6902" y="2780805"/>
            <a:ext cx="4957798" cy="26826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7"/>
          <p:cNvSpPr txBox="1"/>
          <p:nvPr/>
        </p:nvSpPr>
        <p:spPr>
          <a:xfrm>
            <a:off x="716902" y="30914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0" i="0" lang="es-ES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Ejemplos de 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7"/>
          <p:cNvSpPr txBox="1"/>
          <p:nvPr>
            <p:ph idx="1" type="body"/>
          </p:nvPr>
        </p:nvSpPr>
        <p:spPr>
          <a:xfrm>
            <a:off x="716902" y="1283082"/>
            <a:ext cx="5487955" cy="4790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8D8D8"/>
              </a:buClr>
              <a:buSzPts val="1800"/>
              <a:buNone/>
            </a:pPr>
            <a:r>
              <a:rPr i="1" lang="es-ES" sz="1800">
                <a:solidFill>
                  <a:srgbClr val="D8D8D8"/>
                </a:solidFill>
              </a:rPr>
              <a:t>Robots</a:t>
            </a:r>
            <a:endParaRPr/>
          </a:p>
        </p:txBody>
      </p:sp>
      <p:sp>
        <p:nvSpPr>
          <p:cNvPr id="195" name="Google Shape;195;p17"/>
          <p:cNvSpPr/>
          <p:nvPr/>
        </p:nvSpPr>
        <p:spPr>
          <a:xfrm>
            <a:off x="497691" y="763312"/>
            <a:ext cx="90138" cy="65434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ophia, el primer robot con ciudadanía - CRIPTO TENDENCIA" id="196" name="Google Shape;19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8170" y="2432482"/>
            <a:ext cx="4366532" cy="2912477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7"/>
          <p:cNvSpPr txBox="1"/>
          <p:nvPr/>
        </p:nvSpPr>
        <p:spPr>
          <a:xfrm>
            <a:off x="2254928" y="5532553"/>
            <a:ext cx="268993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Sophia Robot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7"/>
          <p:cNvSpPr txBox="1"/>
          <p:nvPr/>
        </p:nvSpPr>
        <p:spPr>
          <a:xfrm>
            <a:off x="8220723" y="5532553"/>
            <a:ext cx="268993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Handle Robot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Handle', el sorprendente robot de Boston Dynamics que salta y mantiene el  equilibrio con sólo dos ruedas" id="199" name="Google Shape;19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29274" y="2514045"/>
            <a:ext cx="4670353" cy="2830914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7"/>
          <p:cNvSpPr txBox="1"/>
          <p:nvPr/>
        </p:nvSpPr>
        <p:spPr>
          <a:xfrm>
            <a:off x="426128" y="6271859"/>
            <a:ext cx="36576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s-ES" sz="1200" u="sng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Robots más avanzados en 2020</a:t>
            </a:r>
            <a:endParaRPr b="0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8"/>
          <p:cNvSpPr txBox="1"/>
          <p:nvPr/>
        </p:nvSpPr>
        <p:spPr>
          <a:xfrm>
            <a:off x="716902" y="309142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b="0" i="0" lang="es-ES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Tecnología que acaba de nacer…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Hacer Meme de Bender" id="206" name="Google Shape;20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76676" y="1899075"/>
            <a:ext cx="5438648" cy="40835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NTSB: Tesla's Autopilot UX a “major role” in fatal Model S crash [Updated]  | Ars Technica" id="211" name="Google Shape;21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1988" y="2321859"/>
            <a:ext cx="5039894" cy="2908767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9"/>
          <p:cNvSpPr txBox="1"/>
          <p:nvPr/>
        </p:nvSpPr>
        <p:spPr>
          <a:xfrm>
            <a:off x="1344706" y="5531224"/>
            <a:ext cx="3343835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400" u="sng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Tesla’s Autopilot UX a “major role” in fatal Model S crash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witter taught Microsoft's AI chatbot to be a racist asshole in less than a  day - The Verge" id="213" name="Google Shape;213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36344" y="2904329"/>
            <a:ext cx="4743229" cy="2326297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9"/>
          <p:cNvSpPr txBox="1"/>
          <p:nvPr/>
        </p:nvSpPr>
        <p:spPr>
          <a:xfrm>
            <a:off x="7376373" y="5531224"/>
            <a:ext cx="366317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400" u="sng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Twitter taught Microsoft’s AI chatbot to be a racist asshole in less than a day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9"/>
          <p:cNvSpPr txBox="1"/>
          <p:nvPr/>
        </p:nvSpPr>
        <p:spPr>
          <a:xfrm>
            <a:off x="381740" y="6269888"/>
            <a:ext cx="237033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400" u="sng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Amazon Alexa fail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9"/>
          <p:cNvSpPr txBox="1"/>
          <p:nvPr/>
        </p:nvSpPr>
        <p:spPr>
          <a:xfrm>
            <a:off x="10134021" y="6269887"/>
            <a:ext cx="181104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400" u="sng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El equipo E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6"/>
          <p:cNvSpPr txBox="1"/>
          <p:nvPr>
            <p:ph type="title"/>
          </p:nvPr>
        </p:nvSpPr>
        <p:spPr>
          <a:xfrm>
            <a:off x="2964032" y="2103437"/>
            <a:ext cx="6263936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s-ES"/>
              <a:t>¿Qué podemos nosotros resolver con </a:t>
            </a:r>
            <a:r>
              <a:rPr b="1" lang="es-ES">
                <a:solidFill>
                  <a:srgbClr val="C00000"/>
                </a:solidFill>
              </a:rPr>
              <a:t>Machine Learning</a:t>
            </a:r>
            <a:r>
              <a:rPr lang="es-ES"/>
              <a:t>?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7"/>
          <p:cNvSpPr/>
          <p:nvPr/>
        </p:nvSpPr>
        <p:spPr>
          <a:xfrm>
            <a:off x="26633" y="55488"/>
            <a:ext cx="3996000" cy="3300272"/>
          </a:xfrm>
          <a:prstGeom prst="rect">
            <a:avLst/>
          </a:prstGeom>
          <a:blipFill rotWithShape="1">
            <a:blip r:embed="rId3">
              <a:alphaModFix amt="38000"/>
            </a:blip>
            <a:stretch>
              <a:fillRect b="0" l="-29271" r="-29271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E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Banca y Seguros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s-E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Detección de fraude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s-E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Anticipación al impago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s-E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Productos personalizados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7"/>
          <p:cNvSpPr/>
          <p:nvPr/>
        </p:nvSpPr>
        <p:spPr>
          <a:xfrm>
            <a:off x="8140831" y="3428975"/>
            <a:ext cx="4012800" cy="3300300"/>
          </a:xfrm>
          <a:prstGeom prst="rect">
            <a:avLst/>
          </a:prstGeom>
          <a:blipFill rotWithShape="1">
            <a:blip r:embed="rId4">
              <a:alphaModFix amt="38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ES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Marketing</a:t>
            </a:r>
            <a:endParaRPr b="0" i="0" sz="22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s-E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Comportamiento del cliente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s-E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Análisis de sentimientos en campañas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s-E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Experiencia personalizada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7"/>
          <p:cNvSpPr/>
          <p:nvPr/>
        </p:nvSpPr>
        <p:spPr>
          <a:xfrm>
            <a:off x="8140828" y="55488"/>
            <a:ext cx="4012707" cy="3300272"/>
          </a:xfrm>
          <a:prstGeom prst="rect">
            <a:avLst/>
          </a:prstGeom>
          <a:blipFill rotWithShape="1">
            <a:blip r:embed="rId5">
              <a:alphaModFix amt="38000"/>
            </a:blip>
            <a:stretch>
              <a:fillRect b="0" l="-6964" r="-6965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E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Retail y logística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s-E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Comportamientos de compra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s-E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Anticipación de entregas y de demandas</a:t>
            </a:r>
            <a:endParaRPr b="0" i="1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s-E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Predicción de averías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7"/>
          <p:cNvSpPr/>
          <p:nvPr/>
        </p:nvSpPr>
        <p:spPr>
          <a:xfrm>
            <a:off x="26634" y="3429000"/>
            <a:ext cx="4012707" cy="3300272"/>
          </a:xfrm>
          <a:prstGeom prst="rect">
            <a:avLst/>
          </a:prstGeom>
          <a:blipFill rotWithShape="1">
            <a:blip r:embed="rId6">
              <a:alphaModFix amt="38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E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Sector salud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s-E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Clasificadores de radiografías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s-E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Predicción de enfermedades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s-E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Anticipación a la saturación de hospitales/clínicas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7"/>
          <p:cNvSpPr/>
          <p:nvPr/>
        </p:nvSpPr>
        <p:spPr>
          <a:xfrm>
            <a:off x="4083731" y="3429000"/>
            <a:ext cx="4012707" cy="3300272"/>
          </a:xfrm>
          <a:prstGeom prst="rect">
            <a:avLst/>
          </a:prstGeom>
          <a:blipFill rotWithShape="1">
            <a:blip r:embed="rId7">
              <a:alphaModFix amt="38000"/>
            </a:blip>
            <a:stretch>
              <a:fillRect b="0" l="-8309" r="-8309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E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Redes Sociales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s-E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Recomendadores de productos en base a tu actividad en RRSS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s-E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Recomendador de media (Netflix, Spotify)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7"/>
          <p:cNvSpPr/>
          <p:nvPr/>
        </p:nvSpPr>
        <p:spPr>
          <a:xfrm>
            <a:off x="4075378" y="55488"/>
            <a:ext cx="4012800" cy="3300300"/>
          </a:xfrm>
          <a:prstGeom prst="rect">
            <a:avLst/>
          </a:prstGeom>
          <a:blipFill rotWithShape="1">
            <a:blip r:embed="rId8">
              <a:alphaModFix amt="38000"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E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Mercados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s-E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Tendencias/anomalías, comportamientos predictivos en mercado de valores, energético.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1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g1270524e87a_0_1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799" y="1334425"/>
            <a:ext cx="11902400" cy="4189149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g1270524e87a_0_160"/>
          <p:cNvSpPr txBox="1"/>
          <p:nvPr>
            <p:ph type="title"/>
          </p:nvPr>
        </p:nvSpPr>
        <p:spPr>
          <a:xfrm>
            <a:off x="-630818" y="12"/>
            <a:ext cx="62640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s-ES"/>
              <a:t>Podría ayudarnos</a:t>
            </a:r>
            <a:r>
              <a:rPr lang="es-ES">
                <a:solidFill>
                  <a:srgbClr val="C00000"/>
                </a:solidFill>
              </a:rPr>
              <a:t>…</a:t>
            </a:r>
            <a:r>
              <a:rPr lang="es-ES"/>
              <a:t>?</a:t>
            </a:r>
            <a:endParaRPr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Tema d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2020-10-12T14:09:12Z</dcterms:created>
  <dc:creator>Daniel Ortiz</dc:creator>
</cp:coreProperties>
</file>